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mpt-evolver-swis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mpt-evolver-swis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7df991455dba63.png"/>
  <Relationship Id="rId3" Type="http://schemas.openxmlformats.org/officeDocument/2006/relationships/image" Target="../media/image_d95befd75f23bc00.png"/>
  <Relationship Id="rId4" Type="http://schemas.openxmlformats.org/officeDocument/2006/relationships/image" Target="../media/image_dbe20f5cfbd66473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7044755fddfc57f.png"/>
  <Relationship Id="rId3" Type="http://schemas.openxmlformats.org/officeDocument/2006/relationships/image" Target="../media/image_7b042f01779669d7.png"/>
  <Relationship Id="rId4" Type="http://schemas.openxmlformats.org/officeDocument/2006/relationships/image" Target="../media/image_741d048a05b71d05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v-pillar"/>
          <p:cNvSpPr/>
          <p:nvPr/>
        </p:nvSpPr>
        <p:spPr>
          <a:xfrm>
            <a:off x="0" y="0"/>
            <a:ext cx="2476500" cy="6858000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cv-mark"/>
          <p:cNvSpPr/>
          <p:nvPr/>
        </p:nvSpPr>
        <p:spPr>
          <a:xfrm>
            <a:off x="457200" y="609600"/>
            <a:ext cx="2476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457200" y="1123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9525">
            <a:solidFill>
              <a:srgbClr val="7A93F0"/>
            </a:solidFill>
          </a:ln>
        </p:spPr>
      </p:sp>
      <p:grpSp>
        <p:nvGrpSpPr>
          <p:cNvPr id="6" name="cv-brand"/>
          <p:cNvGrpSpPr/>
          <p:nvPr/>
        </p:nvGrpSpPr>
        <p:grpSpPr>
          <a:xfrm>
            <a:off x="451104" y="5261610"/>
            <a:ext cx="1418021" cy="743331"/>
            <a:chOff x="451104" y="5261610"/>
            <a:chExt cx="1418021" cy="743331"/>
          </a:xfrm>
        </p:grpSpPr>
        <p:sp>
          <p:nvSpPr>
            <p:cNvPr id="5" name="TextBox 5"/>
            <p:cNvSpPr txBox="1"/>
            <p:nvPr/>
          </p:nvSpPr>
          <p:spPr>
            <a:xfrm>
              <a:off x="451104" y="5261610"/>
              <a:ext cx="1418021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02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PROMPT</a:t>
              </a:r>
              <a:br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AUTO-ITERATION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OPTIMIZER　v2.0.0</a:t>
              </a:r>
            </a:p>
          </p:txBody>
        </p:sp>
      </p:grpSp>
      <p:grpSp>
        <p:nvGrpSpPr>
          <p:cNvPr id="8" name="cv-title"/>
          <p:cNvGrpSpPr/>
          <p:nvPr/>
        </p:nvGrpSpPr>
        <p:grpSpPr>
          <a:xfrm>
            <a:off x="3219450" y="2034540"/>
            <a:ext cx="7792212" cy="933450"/>
            <a:chOff x="3219450" y="2034540"/>
            <a:chExt cx="7792212" cy="933450"/>
          </a:xfrm>
        </p:grpSpPr>
        <p:sp>
          <p:nvSpPr>
            <p:cNvPr id="7" name="TextBox 7"/>
            <p:cNvSpPr txBox="1"/>
            <p:nvPr/>
          </p:nvSpPr>
          <p:spPr>
            <a:xfrm>
              <a:off x="3219450" y="2034540"/>
              <a:ext cx="779221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提示词自动迭代优化智能体</a:t>
              </a:r>
            </a:p>
          </p:txBody>
        </p:sp>
      </p:grpSp>
      <p:grpSp>
        <p:nvGrpSpPr>
          <p:cNvPr id="10" name="cv-sub"/>
          <p:cNvGrpSpPr/>
          <p:nvPr/>
        </p:nvGrpSpPr>
        <p:grpSpPr>
          <a:xfrm>
            <a:off x="3229356" y="3196590"/>
            <a:ext cx="6750558" cy="694944"/>
            <a:chOff x="3229356" y="3196590"/>
            <a:chExt cx="6750558" cy="694944"/>
          </a:xfrm>
        </p:grpSpPr>
        <p:sp>
          <p:nvSpPr>
            <p:cNvPr id="9" name="TextBox 9"/>
            <p:cNvSpPr txBox="1"/>
            <p:nvPr/>
          </p:nvSpPr>
          <p:spPr>
            <a:xfrm>
              <a:off x="3229356" y="3196590"/>
              <a:ext cx="675055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基于智能体编排的「变体生成 → 任务执行 → 质量评估 → 择优迭代」</a:t>
              </a:r>
              <a:br/>
              <a:r>
                <a:rPr lang="zh-CN" sz="18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自动优化闭环</a:t>
              </a:r>
            </a:p>
          </p:txBody>
        </p:sp>
      </p:grpSp>
      <p:grpSp>
        <p:nvGrpSpPr>
          <p:cNvPr id="12" name="cv-sub2"/>
          <p:cNvGrpSpPr/>
          <p:nvPr/>
        </p:nvGrpSpPr>
        <p:grpSpPr>
          <a:xfrm>
            <a:off x="3231261" y="4151471"/>
            <a:ext cx="6781556" cy="278702"/>
            <a:chOff x="3231261" y="4151471"/>
            <a:chExt cx="6781556" cy="278702"/>
          </a:xfrm>
        </p:grpSpPr>
        <p:sp>
          <p:nvSpPr>
            <p:cNvPr id="11" name="TextBox 11"/>
            <p:cNvSpPr txBox="1"/>
            <p:nvPr/>
          </p:nvSpPr>
          <p:spPr>
            <a:xfrm>
              <a:off x="3231261" y="4151471"/>
              <a:ext cx="6781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—— 从一次真实的提示词迭代实践出发，做成可评测、可上线、可对外服务的平台</a:t>
              </a:r>
            </a:p>
          </p:txBody>
        </p:sp>
      </p:grpSp>
      <p:grpSp>
        <p:nvGrpSpPr>
          <p:cNvPr id="23" name="cv-tags"/>
          <p:cNvGrpSpPr/>
          <p:nvPr/>
        </p:nvGrpSpPr>
        <p:grpSpPr>
          <a:xfrm>
            <a:off x="3238500" y="4724400"/>
            <a:ext cx="4962525" cy="361950"/>
            <a:chOff x="3238500" y="4724400"/>
            <a:chExt cx="4962525" cy="361950"/>
          </a:xfrm>
        </p:grpSpPr>
        <p:sp>
          <p:nvSpPr>
            <p:cNvPr id="13" name="Rectangle 13"/>
            <p:cNvSpPr/>
            <p:nvPr/>
          </p:nvSpPr>
          <p:spPr>
            <a:xfrm>
              <a:off x="3238500" y="4724400"/>
              <a:ext cx="1104900" cy="36195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20264" y="4824889"/>
              <a:ext cx="941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Python 3.12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95800" y="4724400"/>
              <a:ext cx="971550" cy="36195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38529" y="4824889"/>
              <a:ext cx="886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LangGraph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619750" y="4724400"/>
              <a:ext cx="828675" cy="36195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11274" y="4824889"/>
              <a:ext cx="645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FastAPI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00825" y="4724400"/>
              <a:ext cx="895350" cy="36195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93268" y="4824889"/>
              <a:ext cx="710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React 18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48575" y="4724400"/>
              <a:ext cx="552450" cy="36195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21053" y="4824889"/>
              <a:ext cx="40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RAG</a:t>
              </a:r>
            </a:p>
          </p:txBody>
        </p:sp>
      </p:grpSp>
      <p:grpSp>
        <p:nvGrpSpPr>
          <p:cNvPr id="25" name="cv-meta"/>
          <p:cNvGrpSpPr/>
          <p:nvPr/>
        </p:nvGrpSpPr>
        <p:grpSpPr>
          <a:xfrm>
            <a:off x="3232023" y="6034564"/>
            <a:ext cx="4398335" cy="249364"/>
            <a:chOff x="3232023" y="6034564"/>
            <a:chExt cx="4398335" cy="249364"/>
          </a:xfrm>
        </p:grpSpPr>
        <p:sp>
          <p:nvSpPr>
            <p:cNvPr id="24" name="TextBox 24"/>
            <p:cNvSpPr txBox="1"/>
            <p:nvPr/>
          </p:nvSpPr>
          <p:spPr>
            <a:xfrm>
              <a:off x="3232023" y="6034564"/>
              <a:ext cx="4398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汇报人：钟旨宸　|　数据科学与大数据技术　|　2026.09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4" name="Line 4"/>
          <p:cNvSpPr/>
          <p:nvPr/>
        </p:nvSpPr>
        <p:spPr>
          <a:xfrm>
            <a:off x="762000" y="1790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5" name="Line 5"/>
          <p:cNvSpPr/>
          <p:nvPr/>
        </p:nvSpPr>
        <p:spPr>
          <a:xfrm>
            <a:off x="762000" y="28384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6" name="Line 6"/>
          <p:cNvSpPr/>
          <p:nvPr/>
        </p:nvSpPr>
        <p:spPr>
          <a:xfrm>
            <a:off x="762000" y="3886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7" name="Line 7"/>
          <p:cNvSpPr/>
          <p:nvPr/>
        </p:nvSpPr>
        <p:spPr>
          <a:xfrm>
            <a:off x="762000" y="493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10" name="p02-header"/>
          <p:cNvGrpSpPr/>
          <p:nvPr/>
        </p:nvGrpSpPr>
        <p:grpSpPr>
          <a:xfrm>
            <a:off x="744855" y="613410"/>
            <a:ext cx="1200988" cy="863441"/>
            <a:chOff x="744855" y="613410"/>
            <a:chExt cx="1200988" cy="863441"/>
          </a:xfrm>
        </p:grpSpPr>
        <p:sp>
          <p:nvSpPr>
            <p:cNvPr id="8" name="TextBox 8"/>
            <p:cNvSpPr txBox="1"/>
            <p:nvPr/>
          </p:nvSpPr>
          <p:spPr>
            <a:xfrm>
              <a:off x="755904" y="613410"/>
              <a:ext cx="1189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CONTENTS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855" y="816769"/>
              <a:ext cx="944321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</p:grpSp>
      <p:grpSp>
        <p:nvGrpSpPr>
          <p:cNvPr id="17" name="p02-row1"/>
          <p:cNvGrpSpPr/>
          <p:nvPr/>
        </p:nvGrpSpPr>
        <p:grpSpPr>
          <a:xfrm>
            <a:off x="746760" y="1962150"/>
            <a:ext cx="10689336" cy="721328"/>
            <a:chOff x="746760" y="1962150"/>
            <a:chExt cx="10689336" cy="721328"/>
          </a:xfrm>
        </p:grpSpPr>
        <p:sp>
          <p:nvSpPr>
            <p:cNvPr id="11" name="TextBox 11"/>
            <p:cNvSpPr txBox="1"/>
            <p:nvPr/>
          </p:nvSpPr>
          <p:spPr>
            <a:xfrm>
              <a:off x="746760" y="1962150"/>
              <a:ext cx="47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84401" y="2051209"/>
              <a:ext cx="207639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项目背景与痛点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88973" y="243411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一个真实案例引出的四类痛点，与项目的定位和验收目标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01328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真实案例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39528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四类痛点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777728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验收目标</a:t>
              </a:r>
            </a:p>
          </p:txBody>
        </p:sp>
      </p:grpSp>
      <p:grpSp>
        <p:nvGrpSpPr>
          <p:cNvPr id="24" name="p02-row2"/>
          <p:cNvGrpSpPr/>
          <p:nvPr/>
        </p:nvGrpSpPr>
        <p:grpSpPr>
          <a:xfrm>
            <a:off x="746760" y="3009900"/>
            <a:ext cx="10689336" cy="721328"/>
            <a:chOff x="746760" y="3009900"/>
            <a:chExt cx="10689336" cy="721328"/>
          </a:xfrm>
        </p:grpSpPr>
        <p:sp>
          <p:nvSpPr>
            <p:cNvPr id="18" name="TextBox 18"/>
            <p:cNvSpPr txBox="1"/>
            <p:nvPr/>
          </p:nvSpPr>
          <p:spPr>
            <a:xfrm>
              <a:off x="746760" y="3009900"/>
              <a:ext cx="47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84401" y="3098959"/>
              <a:ext cx="2663342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系统架构与业务闭环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88973" y="348186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四层架构与技术选型，四步自动优化闭环怎么运转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01328" y="3204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四层架构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39528" y="3204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技术选型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77728" y="3204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优化闭环</a:t>
              </a:r>
            </a:p>
          </p:txBody>
        </p:sp>
      </p:grpSp>
      <p:grpSp>
        <p:nvGrpSpPr>
          <p:cNvPr id="31" name="p02-row3"/>
          <p:cNvGrpSpPr/>
          <p:nvPr/>
        </p:nvGrpSpPr>
        <p:grpSpPr>
          <a:xfrm>
            <a:off x="746760" y="4057650"/>
            <a:ext cx="10689336" cy="721328"/>
            <a:chOff x="746760" y="4057650"/>
            <a:chExt cx="10689336" cy="721328"/>
          </a:xfrm>
        </p:grpSpPr>
        <p:sp>
          <p:nvSpPr>
            <p:cNvPr id="25" name="TextBox 25"/>
            <p:cNvSpPr txBox="1"/>
            <p:nvPr/>
          </p:nvSpPr>
          <p:spPr>
            <a:xfrm>
              <a:off x="746760" y="4057650"/>
              <a:ext cx="47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84401" y="4146709"/>
              <a:ext cx="2663342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核心功能与扩展能力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88973" y="452961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十大功能模块，以及知识库、在线服务、多模型评测与多步流程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01328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核心功能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39528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77728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案例复盘</a:t>
              </a:r>
            </a:p>
          </p:txBody>
        </p:sp>
      </p:grpSp>
      <p:grpSp>
        <p:nvGrpSpPr>
          <p:cNvPr id="38" name="p02-row4"/>
          <p:cNvGrpSpPr/>
          <p:nvPr/>
        </p:nvGrpSpPr>
        <p:grpSpPr>
          <a:xfrm>
            <a:off x="746760" y="5105400"/>
            <a:ext cx="10689336" cy="721328"/>
            <a:chOff x="746760" y="5105400"/>
            <a:chExt cx="10689336" cy="721328"/>
          </a:xfrm>
        </p:grpSpPr>
        <p:sp>
          <p:nvSpPr>
            <p:cNvPr id="32" name="TextBox 32"/>
            <p:cNvSpPr txBox="1"/>
            <p:nvPr/>
          </p:nvSpPr>
          <p:spPr>
            <a:xfrm>
              <a:off x="746760" y="5105400"/>
              <a:ext cx="47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84401" y="5194459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项目总结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88973" y="557736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做成了什么、有哪些收获，以及遇到的难点与解决方法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39784" y="5299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做成了什么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39528" y="5299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关键收获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16184" y="5299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难点与解决</a:t>
              </a:r>
            </a:p>
          </p:txBody>
        </p:sp>
      </p:grpSp>
      <p:grpSp>
        <p:nvGrpSpPr>
          <p:cNvPr id="41" name="p02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39" name="TextBox 39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02 / 12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03-header"/>
          <p:cNvGrpSpPr/>
          <p:nvPr/>
        </p:nvGrpSpPr>
        <p:grpSpPr>
          <a:xfrm>
            <a:off x="744855" y="613410"/>
            <a:ext cx="3507085" cy="863441"/>
            <a:chOff x="744855" y="613410"/>
            <a:chExt cx="3507085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349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WHY PROMPT AUTO-ITERATION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3219399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项目背景与痛点</a:t>
              </a:r>
            </a:p>
          </p:txBody>
        </p:sp>
      </p:grpSp>
      <p:grpSp>
        <p:nvGrpSpPr>
          <p:cNvPr id="8" name="p03-lead"/>
          <p:cNvGrpSpPr/>
          <p:nvPr/>
        </p:nvGrpSpPr>
        <p:grpSpPr>
          <a:xfrm>
            <a:off x="755142" y="1892618"/>
            <a:ext cx="9940671" cy="558356"/>
            <a:chOff x="755142" y="1892618"/>
            <a:chExt cx="9940671" cy="558356"/>
          </a:xfrm>
        </p:grpSpPr>
        <p:sp>
          <p:nvSpPr>
            <p:cNvPr id="7" name="TextBox 7"/>
            <p:cNvSpPr txBox="1"/>
            <p:nvPr/>
          </p:nvSpPr>
          <p:spPr>
            <a:xfrm>
              <a:off x="755142" y="1892618"/>
              <a:ext cx="9940671" cy="558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18"/>
                </a:lnSpc>
              </a:pPr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真实案例：一位开发者用 Auto Research 框架，把自己的提示词迭代了 1000 多轮。</a:t>
              </a:r>
              <a:br/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结果：DeepSeek 得分从 36.4 升到 90.7，Doubao 从 54.0 升到 96.8 —— 靠的不是灵感，而是「切小步 + 固定考卷 + 反复测试」。</a:t>
              </a:r>
            </a:p>
          </p:txBody>
        </p:sp>
      </p:grpSp>
      <p:grpSp>
        <p:nvGrpSpPr>
          <p:cNvPr id="13" name="p03-c1"/>
          <p:cNvGrpSpPr/>
          <p:nvPr/>
        </p:nvGrpSpPr>
        <p:grpSpPr>
          <a:xfrm>
            <a:off x="742950" y="2581275"/>
            <a:ext cx="2647950" cy="1854803"/>
            <a:chOff x="742950" y="2581275"/>
            <a:chExt cx="2647950" cy="1854803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258127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228975"/>
              <a:ext cx="26289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856" y="3539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人工试错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523" y="3939064"/>
              <a:ext cx="212623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靠经验和手感反复改提示词，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改一版、跑一次就要大半天</a:t>
              </a:r>
            </a:p>
          </p:txBody>
        </p:sp>
      </p:grpSp>
      <p:grpSp>
        <p:nvGrpSpPr>
          <p:cNvPr id="18" name="p03-c2"/>
          <p:cNvGrpSpPr/>
          <p:nvPr/>
        </p:nvGrpSpPr>
        <p:grpSpPr>
          <a:xfrm>
            <a:off x="3409950" y="2581275"/>
            <a:ext cx="2647950" cy="1854803"/>
            <a:chOff x="3409950" y="2581275"/>
            <a:chExt cx="2647950" cy="1854803"/>
          </a:xfrm>
        </p:grpSpPr>
        <p:sp>
          <p:nvSpPr>
            <p:cNvPr id="14" name="TextBox 14"/>
            <p:cNvSpPr txBox="1"/>
            <p:nvPr/>
          </p:nvSpPr>
          <p:spPr>
            <a:xfrm>
              <a:off x="3409950" y="258127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3228975"/>
              <a:ext cx="26289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19856" y="3539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难以量化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22523" y="3939064"/>
              <a:ext cx="212623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输出好坏全凭主观感觉，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两个版本摆一起也比不出高下</a:t>
              </a:r>
            </a:p>
          </p:txBody>
        </p:sp>
      </p:grpSp>
      <p:grpSp>
        <p:nvGrpSpPr>
          <p:cNvPr id="23" name="p03-c3"/>
          <p:cNvGrpSpPr/>
          <p:nvPr/>
        </p:nvGrpSpPr>
        <p:grpSpPr>
          <a:xfrm>
            <a:off x="6076950" y="2581275"/>
            <a:ext cx="2647950" cy="1854803"/>
            <a:chOff x="6076950" y="2581275"/>
            <a:chExt cx="2647950" cy="1854803"/>
          </a:xfrm>
        </p:grpSpPr>
        <p:sp>
          <p:nvSpPr>
            <p:cNvPr id="19" name="TextBox 19"/>
            <p:cNvSpPr txBox="1"/>
            <p:nvPr/>
          </p:nvSpPr>
          <p:spPr>
            <a:xfrm>
              <a:off x="6076950" y="258127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0" y="3228975"/>
              <a:ext cx="26289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86856" y="3539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无法沉淀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9523" y="3939064"/>
              <a:ext cx="196367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优化经验留在个人手里，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换个人、换个模型就得重来</a:t>
              </a:r>
            </a:p>
          </p:txBody>
        </p:sp>
      </p:grpSp>
      <p:grpSp>
        <p:nvGrpSpPr>
          <p:cNvPr id="28" name="p03-c4"/>
          <p:cNvGrpSpPr/>
          <p:nvPr/>
        </p:nvGrpSpPr>
        <p:grpSpPr>
          <a:xfrm>
            <a:off x="8743950" y="2581275"/>
            <a:ext cx="2647950" cy="1854803"/>
            <a:chOff x="8743950" y="2581275"/>
            <a:chExt cx="2647950" cy="1854803"/>
          </a:xfrm>
        </p:grpSpPr>
        <p:sp>
          <p:nvSpPr>
            <p:cNvPr id="24" name="TextBox 24"/>
            <p:cNvSpPr txBox="1"/>
            <p:nvPr/>
          </p:nvSpPr>
          <p:spPr>
            <a:xfrm>
              <a:off x="8743950" y="258127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763000" y="3228975"/>
              <a:ext cx="26289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53856" y="3539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缺乏闭环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56523" y="3939064"/>
              <a:ext cx="245135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没有「改 — 测 — 评 — 留」的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自动反馈，改对了也说不清为什么</a:t>
              </a:r>
            </a:p>
          </p:txBody>
        </p:sp>
      </p:grpSp>
      <p:grpSp>
        <p:nvGrpSpPr>
          <p:cNvPr id="32" name="p03-fix"/>
          <p:cNvGrpSpPr/>
          <p:nvPr/>
        </p:nvGrpSpPr>
        <p:grpSpPr>
          <a:xfrm>
            <a:off x="762000" y="4762500"/>
            <a:ext cx="10668000" cy="838200"/>
            <a:chOff x="762000" y="4762500"/>
            <a:chExt cx="10668000" cy="838200"/>
          </a:xfrm>
        </p:grpSpPr>
        <p:sp>
          <p:nvSpPr>
            <p:cNvPr id="29" name="Rectangle 29"/>
            <p:cNvSpPr/>
            <p:nvPr/>
          </p:nvSpPr>
          <p:spPr>
            <a:xfrm>
              <a:off x="762000" y="4762500"/>
              <a:ext cx="10668000" cy="838200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4762500"/>
              <a:ext cx="47625" cy="8382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9942" y="5112068"/>
              <a:ext cx="9591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破解思路：把「改提示词」这件事交给系统自动跑 —— 自动改、自动测、自动评分、自动择优，人只负责定目标和拍板。</a:t>
              </a:r>
            </a:p>
          </p:txBody>
        </p:sp>
      </p:grpSp>
      <p:grpSp>
        <p:nvGrpSpPr>
          <p:cNvPr id="35" name="p03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03 / 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04-header"/>
          <p:cNvGrpSpPr/>
          <p:nvPr/>
        </p:nvGrpSpPr>
        <p:grpSpPr>
          <a:xfrm>
            <a:off x="744855" y="613410"/>
            <a:ext cx="5039462" cy="863441"/>
            <a:chOff x="744855" y="613410"/>
            <a:chExt cx="5039462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2828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POSITIONING &amp; TARGETS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5039462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项目定位与量化验收目标</a:t>
              </a:r>
            </a:p>
          </p:txBody>
        </p:sp>
      </p:grpSp>
      <p:grpSp>
        <p:nvGrpSpPr>
          <p:cNvPr id="8" name="p04-lead"/>
          <p:cNvGrpSpPr/>
          <p:nvPr/>
        </p:nvGrpSpPr>
        <p:grpSpPr>
          <a:xfrm>
            <a:off x="754761" y="1903571"/>
            <a:ext cx="7940421" cy="592074"/>
            <a:chOff x="754761" y="1903571"/>
            <a:chExt cx="7940421" cy="592074"/>
          </a:xfrm>
        </p:grpSpPr>
        <p:sp>
          <p:nvSpPr>
            <p:cNvPr id="7" name="TextBox 7"/>
            <p:cNvSpPr txBox="1"/>
            <p:nvPr/>
          </p:nvSpPr>
          <p:spPr>
            <a:xfrm>
              <a:off x="754761" y="1903571"/>
              <a:ext cx="7940421" cy="59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68"/>
                </a:lnSpc>
              </a:pPr>
              <a:r>
                <a:rPr lang="zh-CN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用户在浏览器设定优化目标、任务描述、测试用例集与初始提示词，系统自动多轮迭代至收敛，</a:t>
              </a:r>
              <a:br/>
              <a:r>
                <a:rPr lang="zh-CN" sz="142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输出最优提示词、得分曲线与优化报告；并进一步支持多模型评测、在线服务、RAG 与多步工作流。</a:t>
              </a:r>
            </a:p>
          </p:txBody>
        </p:sp>
      </p:grpSp>
      <p:grpSp>
        <p:nvGrpSpPr>
          <p:cNvPr id="12" name="p04-k1"/>
          <p:cNvGrpSpPr/>
          <p:nvPr/>
        </p:nvGrpSpPr>
        <p:grpSpPr>
          <a:xfrm>
            <a:off x="742950" y="3130868"/>
            <a:ext cx="1920977" cy="1000410"/>
            <a:chOff x="742950" y="3130868"/>
            <a:chExt cx="1920977" cy="1000410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3130868"/>
              <a:ext cx="1531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≥30%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733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523" y="38819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综合得分较初始版本提升</a:t>
              </a:r>
            </a:p>
          </p:txBody>
        </p:sp>
      </p:grpSp>
      <p:grpSp>
        <p:nvGrpSpPr>
          <p:cNvPr id="16" name="p04-k2"/>
          <p:cNvGrpSpPr/>
          <p:nvPr/>
        </p:nvGrpSpPr>
        <p:grpSpPr>
          <a:xfrm>
            <a:off x="3409950" y="3130868"/>
            <a:ext cx="2093290" cy="1000410"/>
            <a:chOff x="3409950" y="3130868"/>
            <a:chExt cx="2093290" cy="1000410"/>
          </a:xfrm>
        </p:grpSpPr>
        <p:sp>
          <p:nvSpPr>
            <p:cNvPr id="13" name="TextBox 13"/>
            <p:cNvSpPr txBox="1"/>
            <p:nvPr/>
          </p:nvSpPr>
          <p:spPr>
            <a:xfrm>
              <a:off x="3409950" y="3130868"/>
              <a:ext cx="1531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≥80%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3733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22523" y="38819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自动评审与人工评分一致率</a:t>
              </a:r>
            </a:p>
          </p:txBody>
        </p:sp>
      </p:grpSp>
      <p:grpSp>
        <p:nvGrpSpPr>
          <p:cNvPr id="20" name="p04-k3"/>
          <p:cNvGrpSpPr/>
          <p:nvPr/>
        </p:nvGrpSpPr>
        <p:grpSpPr>
          <a:xfrm>
            <a:off x="6076950" y="3130868"/>
            <a:ext cx="1404036" cy="1000410"/>
            <a:chOff x="6076950" y="3130868"/>
            <a:chExt cx="1404036" cy="1000410"/>
          </a:xfrm>
        </p:grpSpPr>
        <p:sp>
          <p:nvSpPr>
            <p:cNvPr id="17" name="TextBox 17"/>
            <p:cNvSpPr txBox="1"/>
            <p:nvPr/>
          </p:nvSpPr>
          <p:spPr>
            <a:xfrm>
              <a:off x="6076950" y="3130868"/>
              <a:ext cx="133660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≤60s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3733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9523" y="38819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单轮迭代平均耗时</a:t>
              </a:r>
            </a:p>
          </p:txBody>
        </p:sp>
      </p:grpSp>
      <p:grpSp>
        <p:nvGrpSpPr>
          <p:cNvPr id="24" name="p04-k4"/>
          <p:cNvGrpSpPr/>
          <p:nvPr/>
        </p:nvGrpSpPr>
        <p:grpSpPr>
          <a:xfrm>
            <a:off x="8743950" y="3130868"/>
            <a:ext cx="1531607" cy="1000410"/>
            <a:chOff x="8743950" y="3130868"/>
            <a:chExt cx="1531607" cy="1000410"/>
          </a:xfrm>
        </p:grpSpPr>
        <p:sp>
          <p:nvSpPr>
            <p:cNvPr id="21" name="TextBox 21"/>
            <p:cNvSpPr txBox="1"/>
            <p:nvPr/>
          </p:nvSpPr>
          <p:spPr>
            <a:xfrm>
              <a:off x="8743950" y="3130868"/>
              <a:ext cx="1531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≥98%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3733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56523" y="38819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任务执行成功率</a:t>
              </a:r>
            </a:p>
          </p:txBody>
        </p:sp>
      </p:grpSp>
      <p:grpSp>
        <p:nvGrpSpPr>
          <p:cNvPr id="28" name="p04-evi"/>
          <p:cNvGrpSpPr/>
          <p:nvPr/>
        </p:nvGrpSpPr>
        <p:grpSpPr>
          <a:xfrm>
            <a:off x="762000" y="5048250"/>
            <a:ext cx="10668000" cy="838200"/>
            <a:chOff x="762000" y="5048250"/>
            <a:chExt cx="10668000" cy="838200"/>
          </a:xfrm>
        </p:grpSpPr>
        <p:sp>
          <p:nvSpPr>
            <p:cNvPr id="25" name="Rectangle 25"/>
            <p:cNvSpPr/>
            <p:nvPr/>
          </p:nvSpPr>
          <p:spPr>
            <a:xfrm>
              <a:off x="762000" y="5048250"/>
              <a:ext cx="10668000" cy="838200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2000" y="5048250"/>
              <a:ext cx="47625" cy="8382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0323" y="5405914"/>
              <a:ext cx="9817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实测佐证：用一份故意写得很差的初始提示词做真实模型测试，综合得分由 25 提升到 45（+80%），超出「≥30%」的验收目标。</a:t>
              </a:r>
            </a:p>
          </p:txBody>
        </p:sp>
      </p:grpSp>
      <p:grpSp>
        <p:nvGrpSpPr>
          <p:cNvPr id="31" name="p04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04 / 12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4" name="Line 4"/>
          <p:cNvSpPr/>
          <p:nvPr/>
        </p:nvSpPr>
        <p:spPr>
          <a:xfrm>
            <a:off x="762000" y="18669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>
            <a:solidFill>
              <a:srgbClr val="0A0A0A"/>
            </a:solidFill>
          </a:ln>
        </p:spPr>
      </p:sp>
      <p:sp>
        <p:nvSpPr>
          <p:cNvPr id="5" name="Line 5"/>
          <p:cNvSpPr/>
          <p:nvPr/>
        </p:nvSpPr>
        <p:spPr>
          <a:xfrm>
            <a:off x="762000" y="26098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6" name="Line 6"/>
          <p:cNvSpPr/>
          <p:nvPr/>
        </p:nvSpPr>
        <p:spPr>
          <a:xfrm>
            <a:off x="762000" y="3467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7" name="Line 7"/>
          <p:cNvSpPr/>
          <p:nvPr/>
        </p:nvSpPr>
        <p:spPr>
          <a:xfrm>
            <a:off x="762000" y="43243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8" name="Line 8"/>
          <p:cNvSpPr/>
          <p:nvPr/>
        </p:nvSpPr>
        <p:spPr>
          <a:xfrm>
            <a:off x="762000" y="51816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11" name="p05-header"/>
          <p:cNvGrpSpPr/>
          <p:nvPr/>
        </p:nvGrpSpPr>
        <p:grpSpPr>
          <a:xfrm>
            <a:off x="744855" y="613410"/>
            <a:ext cx="5039462" cy="863441"/>
            <a:chOff x="744855" y="613410"/>
            <a:chExt cx="5039462" cy="863441"/>
          </a:xfrm>
        </p:grpSpPr>
        <p:sp>
          <p:nvSpPr>
            <p:cNvPr id="9" name="TextBox 9"/>
            <p:cNvSpPr txBox="1"/>
            <p:nvPr/>
          </p:nvSpPr>
          <p:spPr>
            <a:xfrm>
              <a:off x="755904" y="613410"/>
              <a:ext cx="4446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SYSTEM ARCHITECTURE &amp; TECH STACK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816769"/>
              <a:ext cx="5039462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系统总体架构与技术选型</a:t>
              </a:r>
            </a:p>
          </p:txBody>
        </p:sp>
      </p:grpSp>
      <p:grpSp>
        <p:nvGrpSpPr>
          <p:cNvPr id="15" name="p05-l1"/>
          <p:cNvGrpSpPr/>
          <p:nvPr/>
        </p:nvGrpSpPr>
        <p:grpSpPr>
          <a:xfrm>
            <a:off x="762000" y="2205990"/>
            <a:ext cx="9025865" cy="352044"/>
            <a:chOff x="762000" y="2205990"/>
            <a:chExt cx="9025865" cy="352044"/>
          </a:xfrm>
        </p:grpSpPr>
        <p:sp>
          <p:nvSpPr>
            <p:cNvPr id="12" name="Rectangle 12"/>
            <p:cNvSpPr/>
            <p:nvPr/>
          </p:nvSpPr>
          <p:spPr>
            <a:xfrm>
              <a:off x="762000" y="2295525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1456" y="2205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表现层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03423" y="2262664"/>
              <a:ext cx="6784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网页端：React 18 + TypeScript，组件库 Ant Design 5，图表 ECharts，状态 Zustand</a:t>
              </a:r>
            </a:p>
          </p:txBody>
        </p:sp>
      </p:grpSp>
      <p:grpSp>
        <p:nvGrpSpPr>
          <p:cNvPr id="19" name="p05-l2"/>
          <p:cNvGrpSpPr/>
          <p:nvPr/>
        </p:nvGrpSpPr>
        <p:grpSpPr>
          <a:xfrm>
            <a:off x="762000" y="3063240"/>
            <a:ext cx="8303920" cy="352044"/>
            <a:chOff x="762000" y="3063240"/>
            <a:chExt cx="8303920" cy="352044"/>
          </a:xfrm>
        </p:grpSpPr>
        <p:sp>
          <p:nvSpPr>
            <p:cNvPr id="16" name="Rectangle 16"/>
            <p:cNvSpPr/>
            <p:nvPr/>
          </p:nvSpPr>
          <p:spPr>
            <a:xfrm>
              <a:off x="762000" y="3152775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1456" y="3063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服务层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03423" y="3119914"/>
              <a:ext cx="6062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后端接口：FastAPI 提供 75 个接口；登录凭证存加密 Cookie；长任务异步执行</a:t>
              </a:r>
            </a:p>
          </p:txBody>
        </p:sp>
      </p:grpSp>
      <p:grpSp>
        <p:nvGrpSpPr>
          <p:cNvPr id="23" name="p05-l3"/>
          <p:cNvGrpSpPr/>
          <p:nvPr/>
        </p:nvGrpSpPr>
        <p:grpSpPr>
          <a:xfrm>
            <a:off x="762000" y="3920490"/>
            <a:ext cx="10309388" cy="352044"/>
            <a:chOff x="762000" y="3920490"/>
            <a:chExt cx="10309388" cy="352044"/>
          </a:xfrm>
        </p:grpSpPr>
        <p:sp>
          <p:nvSpPr>
            <p:cNvPr id="20" name="Rectangle 20"/>
            <p:cNvSpPr/>
            <p:nvPr/>
          </p:nvSpPr>
          <p:spPr>
            <a:xfrm>
              <a:off x="762000" y="4010025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1456" y="3920490"/>
              <a:ext cx="15224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编排 / 评估层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03423" y="3977164"/>
              <a:ext cx="80679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优化引擎：LangGraph 编排四步闭环；机器指标 + AI 评审打分；知识库检索增强；多模型对比与多步流程</a:t>
              </a:r>
            </a:p>
          </p:txBody>
        </p:sp>
      </p:grpSp>
      <p:grpSp>
        <p:nvGrpSpPr>
          <p:cNvPr id="27" name="p05-l4"/>
          <p:cNvGrpSpPr/>
          <p:nvPr/>
        </p:nvGrpSpPr>
        <p:grpSpPr>
          <a:xfrm>
            <a:off x="762000" y="4777740"/>
            <a:ext cx="9745955" cy="352044"/>
            <a:chOff x="762000" y="4777740"/>
            <a:chExt cx="9745955" cy="352044"/>
          </a:xfrm>
        </p:grpSpPr>
        <p:sp>
          <p:nvSpPr>
            <p:cNvPr id="24" name="Rectangle 24"/>
            <p:cNvSpPr/>
            <p:nvPr/>
          </p:nvSpPr>
          <p:spPr>
            <a:xfrm>
              <a:off x="762000" y="4867275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1456" y="47777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03423" y="4834414"/>
              <a:ext cx="7504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数据存储：SQLite + SQLAlchemy 2.0，22 张表；pandas / NumPy 处理数据；评测基准与用例集</a:t>
              </a:r>
            </a:p>
          </p:txBody>
        </p:sp>
      </p:grpSp>
      <p:grpSp>
        <p:nvGrpSpPr>
          <p:cNvPr id="30" name="p05-note"/>
          <p:cNvGrpSpPr/>
          <p:nvPr/>
        </p:nvGrpSpPr>
        <p:grpSpPr>
          <a:xfrm>
            <a:off x="762000" y="5676900"/>
            <a:ext cx="7989189" cy="457200"/>
            <a:chOff x="762000" y="5676900"/>
            <a:chExt cx="7989189" cy="457200"/>
          </a:xfrm>
        </p:grpSpPr>
        <p:sp>
          <p:nvSpPr>
            <p:cNvPr id="28" name="Rectangle 28"/>
            <p:cNvSpPr/>
            <p:nvPr/>
          </p:nvSpPr>
          <p:spPr>
            <a:xfrm>
              <a:off x="762000" y="5676900"/>
              <a:ext cx="47625" cy="4572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4123" y="5844064"/>
              <a:ext cx="7767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运行形态：前后端分开开发、合起来部署；电脑和手机浏览器都能用，一个端口同时提供页面和接口。</a:t>
              </a:r>
            </a:p>
          </p:txBody>
        </p:sp>
      </p:grpSp>
      <p:grpSp>
        <p:nvGrpSpPr>
          <p:cNvPr id="33" name="p05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05 / 12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06-header"/>
          <p:cNvGrpSpPr/>
          <p:nvPr/>
        </p:nvGrpSpPr>
        <p:grpSpPr>
          <a:xfrm>
            <a:off x="744855" y="613410"/>
            <a:ext cx="5949493" cy="863441"/>
            <a:chOff x="744855" y="613410"/>
            <a:chExt cx="5949493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3310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PROMPT OPTIMIZATION LOOP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5949493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核心业务闭环：四步自动优化</a:t>
              </a:r>
            </a:p>
          </p:txBody>
        </p:sp>
      </p:grpSp>
      <p:grpSp>
        <p:nvGrpSpPr>
          <p:cNvPr id="11" name="p06-s1"/>
          <p:cNvGrpSpPr/>
          <p:nvPr/>
        </p:nvGrpSpPr>
        <p:grpSpPr>
          <a:xfrm>
            <a:off x="742950" y="2371725"/>
            <a:ext cx="2305050" cy="1854803"/>
            <a:chOff x="742950" y="2371725"/>
            <a:chExt cx="2305050" cy="1854803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237172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3019425"/>
              <a:ext cx="22860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856" y="3329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变体生成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523" y="3729514"/>
              <a:ext cx="196367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一次只改一小处，同时生成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多个候选版本，不做大改写</a:t>
              </a:r>
            </a:p>
          </p:txBody>
        </p:sp>
      </p:grpSp>
      <p:grpSp>
        <p:nvGrpSpPr>
          <p:cNvPr id="16" name="p06-s2"/>
          <p:cNvGrpSpPr/>
          <p:nvPr/>
        </p:nvGrpSpPr>
        <p:grpSpPr>
          <a:xfrm>
            <a:off x="3409950" y="2371725"/>
            <a:ext cx="2305050" cy="1854803"/>
            <a:chOff x="3409950" y="2371725"/>
            <a:chExt cx="2305050" cy="1854803"/>
          </a:xfrm>
        </p:grpSpPr>
        <p:sp>
          <p:nvSpPr>
            <p:cNvPr id="12" name="TextBox 12"/>
            <p:cNvSpPr txBox="1"/>
            <p:nvPr/>
          </p:nvSpPr>
          <p:spPr>
            <a:xfrm>
              <a:off x="3409950" y="237172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3019425"/>
              <a:ext cx="22860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19856" y="3329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任务执行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2523" y="3729514"/>
              <a:ext cx="196367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拿固定好的考卷反复测，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失败自动重试，结果可追溯</a:t>
              </a:r>
            </a:p>
          </p:txBody>
        </p:sp>
      </p:grpSp>
      <p:grpSp>
        <p:nvGrpSpPr>
          <p:cNvPr id="21" name="p06-s3"/>
          <p:cNvGrpSpPr/>
          <p:nvPr/>
        </p:nvGrpSpPr>
        <p:grpSpPr>
          <a:xfrm>
            <a:off x="6076950" y="2371725"/>
            <a:ext cx="2305050" cy="1854803"/>
            <a:chOff x="6076950" y="2371725"/>
            <a:chExt cx="2305050" cy="1854803"/>
          </a:xfrm>
        </p:grpSpPr>
        <p:sp>
          <p:nvSpPr>
            <p:cNvPr id="17" name="TextBox 17"/>
            <p:cNvSpPr txBox="1"/>
            <p:nvPr/>
          </p:nvSpPr>
          <p:spPr>
            <a:xfrm>
              <a:off x="6076950" y="237172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3019425"/>
              <a:ext cx="22860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329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质量评估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9523" y="3729514"/>
              <a:ext cx="1849882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机器指标 + AI 评审打分，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按权重合成一个总分</a:t>
              </a:r>
            </a:p>
          </p:txBody>
        </p:sp>
      </p:grpSp>
      <p:grpSp>
        <p:nvGrpSpPr>
          <p:cNvPr id="26" name="p06-s4"/>
          <p:cNvGrpSpPr/>
          <p:nvPr/>
        </p:nvGrpSpPr>
        <p:grpSpPr>
          <a:xfrm>
            <a:off x="8743950" y="2371725"/>
            <a:ext cx="2305050" cy="1854803"/>
            <a:chOff x="8743950" y="2371725"/>
            <a:chExt cx="2305050" cy="1854803"/>
          </a:xfrm>
        </p:grpSpPr>
        <p:sp>
          <p:nvSpPr>
            <p:cNvPr id="22" name="TextBox 22"/>
            <p:cNvSpPr txBox="1"/>
            <p:nvPr/>
          </p:nvSpPr>
          <p:spPr>
            <a:xfrm>
              <a:off x="8743950" y="2371725"/>
              <a:ext cx="3750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0" y="3019425"/>
              <a:ext cx="22860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53856" y="3329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择优迭代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56523" y="3729514"/>
              <a:ext cx="212623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留有效的、淘汰无效的；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几轮不涨就停，冻结最优版本</a:t>
              </a:r>
            </a:p>
          </p:txBody>
        </p:sp>
      </p:grpSp>
      <p:grpSp>
        <p:nvGrpSpPr>
          <p:cNvPr id="28" name="p06-ar1"/>
          <p:cNvGrpSpPr/>
          <p:nvPr/>
        </p:nvGrpSpPr>
        <p:grpSpPr>
          <a:xfrm>
            <a:off x="3143250" y="3228975"/>
            <a:ext cx="190500" cy="95250"/>
            <a:chOff x="3143250" y="3228975"/>
            <a:chExt cx="190500" cy="95250"/>
          </a:xfrm>
        </p:grpSpPr>
        <p:sp>
          <p:nvSpPr>
            <p:cNvPr id="27" name="Freeform 27"/>
            <p:cNvSpPr/>
            <p:nvPr/>
          </p:nvSpPr>
          <p:spPr>
            <a:xfrm>
              <a:off x="3143250" y="3228975"/>
              <a:ext cx="190500" cy="9525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</p:grpSp>
      <p:grpSp>
        <p:nvGrpSpPr>
          <p:cNvPr id="30" name="p06-ar2"/>
          <p:cNvGrpSpPr/>
          <p:nvPr/>
        </p:nvGrpSpPr>
        <p:grpSpPr>
          <a:xfrm>
            <a:off x="5810250" y="3228975"/>
            <a:ext cx="190500" cy="95250"/>
            <a:chOff x="5810250" y="3228975"/>
            <a:chExt cx="190500" cy="95250"/>
          </a:xfrm>
        </p:grpSpPr>
        <p:sp>
          <p:nvSpPr>
            <p:cNvPr id="29" name="Freeform 29"/>
            <p:cNvSpPr/>
            <p:nvPr/>
          </p:nvSpPr>
          <p:spPr>
            <a:xfrm>
              <a:off x="5810250" y="3228975"/>
              <a:ext cx="190500" cy="9525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</p:grpSp>
      <p:grpSp>
        <p:nvGrpSpPr>
          <p:cNvPr id="32" name="p06-ar3"/>
          <p:cNvGrpSpPr/>
          <p:nvPr/>
        </p:nvGrpSpPr>
        <p:grpSpPr>
          <a:xfrm>
            <a:off x="8477250" y="3228975"/>
            <a:ext cx="190500" cy="95250"/>
            <a:chOff x="8477250" y="3228975"/>
            <a:chExt cx="190500" cy="95250"/>
          </a:xfrm>
        </p:grpSpPr>
        <p:sp>
          <p:nvSpPr>
            <p:cNvPr id="31" name="Freeform 31"/>
            <p:cNvSpPr/>
            <p:nvPr/>
          </p:nvSpPr>
          <p:spPr>
            <a:xfrm>
              <a:off x="8477250" y="3228975"/>
              <a:ext cx="190500" cy="9525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</p:grpSp>
      <p:grpSp>
        <p:nvGrpSpPr>
          <p:cNvPr id="36" name="p06-end"/>
          <p:cNvGrpSpPr/>
          <p:nvPr/>
        </p:nvGrpSpPr>
        <p:grpSpPr>
          <a:xfrm>
            <a:off x="762000" y="4572000"/>
            <a:ext cx="10668000" cy="762000"/>
            <a:chOff x="762000" y="4572000"/>
            <a:chExt cx="10668000" cy="762000"/>
          </a:xfrm>
        </p:grpSpPr>
        <p:sp>
          <p:nvSpPr>
            <p:cNvPr id="33" name="Rectangle 33"/>
            <p:cNvSpPr/>
            <p:nvPr/>
          </p:nvSpPr>
          <p:spPr>
            <a:xfrm>
              <a:off x="762000" y="4572000"/>
              <a:ext cx="10668000" cy="762000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4572000"/>
              <a:ext cx="47625" cy="7620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0323" y="4872514"/>
              <a:ext cx="9834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什么时候停：达到目标分、连续几轮不再上涨、或超过设定的轮次上限；每一轮都留下版本和评分理由，随时可回退、可接着跑。</a:t>
              </a:r>
            </a:p>
          </p:txBody>
        </p:sp>
      </p:grpSp>
      <p:grpSp>
        <p:nvGrpSpPr>
          <p:cNvPr id="40" name="p06-chain"/>
          <p:cNvGrpSpPr/>
          <p:nvPr/>
        </p:nvGrpSpPr>
        <p:grpSpPr>
          <a:xfrm>
            <a:off x="755523" y="5524500"/>
            <a:ext cx="10674477" cy="683228"/>
            <a:chOff x="755523" y="5524500"/>
            <a:chExt cx="10674477" cy="683228"/>
          </a:xfrm>
        </p:grpSpPr>
        <p:sp>
          <p:nvSpPr>
            <p:cNvPr id="37" name="Rectangle 37"/>
            <p:cNvSpPr/>
            <p:nvPr/>
          </p:nvSpPr>
          <p:spPr>
            <a:xfrm>
              <a:off x="762000" y="5524500"/>
              <a:ext cx="106680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523" y="5672614"/>
              <a:ext cx="8800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十大功能模块分两组：前五个解决「怎么把提示词调好」，后五个解决「调好之后怎么比、怎么上线、怎么沉淀」。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523" y="5958364"/>
              <a:ext cx="5949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从准备考卷 → 搭好闭环 → 做出界面 → 扩展成平台，这就是我们完整走过的路。</a:t>
              </a:r>
            </a:p>
          </p:txBody>
        </p:sp>
      </p:grpSp>
      <p:grpSp>
        <p:nvGrpSpPr>
          <p:cNvPr id="43" name="p06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41" name="TextBox 41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06 / 12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07-header"/>
          <p:cNvGrpSpPr/>
          <p:nvPr/>
        </p:nvGrpSpPr>
        <p:grpSpPr>
          <a:xfrm>
            <a:off x="744855" y="613410"/>
            <a:ext cx="6859524" cy="863441"/>
            <a:chOff x="744855" y="613410"/>
            <a:chExt cx="6859524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2464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CORE LOOP MODULES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6859524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核心功能（一）：优化闭环三件套</a:t>
              </a:r>
            </a:p>
          </p:txBody>
        </p:sp>
      </p:grpSp>
      <p:grpSp>
        <p:nvGrpSpPr>
          <p:cNvPr id="16" name="p07-m1"/>
          <p:cNvGrpSpPr/>
          <p:nvPr/>
        </p:nvGrpSpPr>
        <p:grpSpPr>
          <a:xfrm>
            <a:off x="743712" y="1897380"/>
            <a:ext cx="3265805" cy="2186274"/>
            <a:chOff x="743712" y="1897380"/>
            <a:chExt cx="3265805" cy="218627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1897380"/>
              <a:ext cx="3061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381250"/>
              <a:ext cx="32385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475" y="2464594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优化任务管理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828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923" y="2738914"/>
              <a:ext cx="31015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内置四类常用任务：文案生成 / 文本摘要 /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信息抽取 / 代码生成，一键套用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2670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923" y="3177064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创建任务时先定优化目标和评分标准，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明确「要优化到什么程度」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052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923" y="3615214"/>
              <a:ext cx="21750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用例集可手动添加或批量导入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（输入 + 参考答案 + 关键词）</a:t>
              </a:r>
            </a:p>
          </p:txBody>
        </p:sp>
      </p:grpSp>
      <p:grpSp>
        <p:nvGrpSpPr>
          <p:cNvPr id="26" name="p07-m2"/>
          <p:cNvGrpSpPr/>
          <p:nvPr/>
        </p:nvGrpSpPr>
        <p:grpSpPr>
          <a:xfrm>
            <a:off x="4458462" y="1897380"/>
            <a:ext cx="3256788" cy="2186274"/>
            <a:chOff x="4458462" y="1897380"/>
            <a:chExt cx="3256788" cy="2186274"/>
          </a:xfrm>
        </p:grpSpPr>
        <p:sp>
          <p:nvSpPr>
            <p:cNvPr id="17" name="TextBox 17"/>
            <p:cNvSpPr txBox="1"/>
            <p:nvPr/>
          </p:nvSpPr>
          <p:spPr>
            <a:xfrm>
              <a:off x="4458462" y="1897380"/>
              <a:ext cx="3061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76750" y="2381250"/>
              <a:ext cx="32385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67225" y="2464594"/>
              <a:ext cx="17906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变体生成与执行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76750" y="2828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2673" y="2738914"/>
              <a:ext cx="247573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以「当前最优 + 历史失败案例」为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起点生成多个提示词版本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76750" y="32670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22673" y="3177064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从措辞、结构和约束三处做小步改写，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而不是整篇推倒重写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76750" y="37052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22673" y="3615214"/>
              <a:ext cx="26139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批量试跑所有用例，失败自动重试，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每条结果都能追溯</a:t>
              </a:r>
            </a:p>
          </p:txBody>
        </p:sp>
      </p:grpSp>
      <p:grpSp>
        <p:nvGrpSpPr>
          <p:cNvPr id="36" name="p07-m3"/>
          <p:cNvGrpSpPr/>
          <p:nvPr/>
        </p:nvGrpSpPr>
        <p:grpSpPr>
          <a:xfrm>
            <a:off x="8173212" y="1897380"/>
            <a:ext cx="3256788" cy="2186274"/>
            <a:chOff x="8173212" y="1897380"/>
            <a:chExt cx="3256788" cy="2186274"/>
          </a:xfrm>
        </p:grpSpPr>
        <p:sp>
          <p:nvSpPr>
            <p:cNvPr id="27" name="TextBox 27"/>
            <p:cNvSpPr txBox="1"/>
            <p:nvPr/>
          </p:nvSpPr>
          <p:spPr>
            <a:xfrm>
              <a:off x="8173212" y="1897380"/>
              <a:ext cx="3061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91500" y="2381250"/>
              <a:ext cx="32385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81975" y="246459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质量评估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91500" y="2828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37423" y="2738914"/>
              <a:ext cx="24513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机器指标：和参考答案的相似度、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关键词是否命中、格式是否合格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91500" y="32670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37423" y="3177064"/>
              <a:ext cx="228066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AI 评审：按评分标准给 1-10 分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并说明理由，把关语义质量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91500" y="37052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37423" y="3615214"/>
              <a:ext cx="22887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两部分按可配置权重合成总分，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支持人工抽检复核</a:t>
              </a:r>
            </a:p>
          </p:txBody>
        </p:sp>
      </p:grpSp>
      <p:grpSp>
        <p:nvGrpSpPr>
          <p:cNvPr id="41" name="p07-shot1"/>
          <p:cNvGrpSpPr/>
          <p:nvPr/>
        </p:nvGrpSpPr>
        <p:grpSpPr>
          <a:xfrm>
            <a:off x="762000" y="4115991"/>
            <a:ext cx="3238500" cy="2170509"/>
            <a:chOff x="762000" y="4115991"/>
            <a:chExt cx="3238500" cy="2170509"/>
          </a:xfrm>
        </p:grpSpPr>
        <p:sp>
          <p:nvSpPr>
            <p:cNvPr id="37" name="Rectangle 37"/>
            <p:cNvSpPr/>
            <p:nvPr/>
          </p:nvSpPr>
          <p:spPr>
            <a:xfrm>
              <a:off x="762000" y="4133850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6782" y="4115991"/>
              <a:ext cx="162695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创建任务 · 基础信息</a:t>
              </a:r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0" t="2941" r="0" b="2941"/>
            <a:stretch>
              <a:fillRect/>
            </a:stretch>
          </p:blipFill>
          <p:spPr>
            <a:xfrm>
              <a:off x="762000" y="4381500"/>
              <a:ext cx="3238500" cy="19050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762000" y="4381500"/>
              <a:ext cx="3238500" cy="1905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</p:grpSp>
      <p:grpSp>
        <p:nvGrpSpPr>
          <p:cNvPr id="46" name="p07-shot2"/>
          <p:cNvGrpSpPr/>
          <p:nvPr/>
        </p:nvGrpSpPr>
        <p:grpSpPr>
          <a:xfrm>
            <a:off x="4476750" y="4115991"/>
            <a:ext cx="3238500" cy="2170509"/>
            <a:chOff x="4476750" y="4115991"/>
            <a:chExt cx="3238500" cy="2170509"/>
          </a:xfrm>
        </p:grpSpPr>
        <p:sp>
          <p:nvSpPr>
            <p:cNvPr id="42" name="Rectangle 42"/>
            <p:cNvSpPr/>
            <p:nvPr/>
          </p:nvSpPr>
          <p:spPr>
            <a:xfrm>
              <a:off x="4476750" y="4133850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41532" y="4115991"/>
              <a:ext cx="162695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创建任务 · 测试用例</a:t>
              </a:r>
            </a:p>
          </p:txBody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rcRect l="0" t="2941" r="0" b="2941"/>
            <a:stretch>
              <a:fillRect/>
            </a:stretch>
          </p:blipFill>
          <p:spPr>
            <a:xfrm>
              <a:off x="4476750" y="4381500"/>
              <a:ext cx="3238500" cy="1905000"/>
            </a:xfrm>
            <a:prstGeom prst="rect">
              <a:avLst/>
            </a:prstGeom>
          </p:spPr>
        </p:pic>
        <p:sp>
          <p:nvSpPr>
            <p:cNvPr id="45" name="Rectangle 45"/>
            <p:cNvSpPr/>
            <p:nvPr/>
          </p:nvSpPr>
          <p:spPr>
            <a:xfrm>
              <a:off x="4476750" y="4381500"/>
              <a:ext cx="3238500" cy="1905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</p:grpSp>
      <p:grpSp>
        <p:nvGrpSpPr>
          <p:cNvPr id="51" name="p07-shot3"/>
          <p:cNvGrpSpPr/>
          <p:nvPr/>
        </p:nvGrpSpPr>
        <p:grpSpPr>
          <a:xfrm>
            <a:off x="8191500" y="4115991"/>
            <a:ext cx="3238500" cy="2170509"/>
            <a:chOff x="8191500" y="4115991"/>
            <a:chExt cx="3238500" cy="2170509"/>
          </a:xfrm>
        </p:grpSpPr>
        <p:sp>
          <p:nvSpPr>
            <p:cNvPr id="47" name="Rectangle 47"/>
            <p:cNvSpPr/>
            <p:nvPr/>
          </p:nvSpPr>
          <p:spPr>
            <a:xfrm>
              <a:off x="8191500" y="4133850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56282" y="4115991"/>
              <a:ext cx="107144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用例集与评分</a:t>
              </a:r>
            </a:p>
          </p:txBody>
        </p:sp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4"/>
            <a:srcRect l="0" t="2941" r="0" b="2941"/>
            <a:stretch>
              <a:fillRect/>
            </a:stretch>
          </p:blipFill>
          <p:spPr>
            <a:xfrm>
              <a:off x="8191500" y="4381500"/>
              <a:ext cx="3238500" cy="1905000"/>
            </a:xfrm>
            <a:prstGeom prst="rect">
              <a:avLst/>
            </a:prstGeom>
          </p:spPr>
        </p:pic>
        <p:sp>
          <p:nvSpPr>
            <p:cNvPr id="50" name="Rectangle 50"/>
            <p:cNvSpPr/>
            <p:nvPr/>
          </p:nvSpPr>
          <p:spPr>
            <a:xfrm>
              <a:off x="8191500" y="4381500"/>
              <a:ext cx="3238500" cy="1905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</p:grpSp>
      <p:grpSp>
        <p:nvGrpSpPr>
          <p:cNvPr id="54" name="p07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52" name="TextBox 52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07 / 12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08-header"/>
          <p:cNvGrpSpPr/>
          <p:nvPr/>
        </p:nvGrpSpPr>
        <p:grpSpPr>
          <a:xfrm>
            <a:off x="744855" y="613410"/>
            <a:ext cx="8224571" cy="863441"/>
            <a:chOff x="744855" y="613410"/>
            <a:chExt cx="8224571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3044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ITERATION · USER · ASSET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8224571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核心功能（二）：迭代、管理与资产沉淀</a:t>
              </a:r>
            </a:p>
          </p:txBody>
        </p:sp>
      </p:grpSp>
      <p:grpSp>
        <p:nvGrpSpPr>
          <p:cNvPr id="16" name="p08-m1"/>
          <p:cNvGrpSpPr/>
          <p:nvPr/>
        </p:nvGrpSpPr>
        <p:grpSpPr>
          <a:xfrm>
            <a:off x="743712" y="1897380"/>
            <a:ext cx="3256788" cy="2186274"/>
            <a:chOff x="743712" y="1897380"/>
            <a:chExt cx="3256788" cy="218627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1897380"/>
              <a:ext cx="3061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381250"/>
              <a:ext cx="32385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475" y="246459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迭代与报告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828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923" y="2738914"/>
              <a:ext cx="21262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多轮循环直到分数不再上涨，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实时显示得分曲线与迭代进度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2670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923" y="3177064"/>
              <a:ext cx="26139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版本之间可对比，支持冻结、回退，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以及中断后接着跑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052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923" y="3615214"/>
              <a:ext cx="25814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一键导出优化报告（Markdown），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含最优提示词和改动依据</a:t>
              </a:r>
            </a:p>
          </p:txBody>
        </p:sp>
      </p:grpSp>
      <p:grpSp>
        <p:nvGrpSpPr>
          <p:cNvPr id="26" name="p08-m2"/>
          <p:cNvGrpSpPr/>
          <p:nvPr/>
        </p:nvGrpSpPr>
        <p:grpSpPr>
          <a:xfrm>
            <a:off x="4458462" y="1897380"/>
            <a:ext cx="3256788" cy="2186274"/>
            <a:chOff x="4458462" y="1897380"/>
            <a:chExt cx="3256788" cy="2186274"/>
          </a:xfrm>
        </p:grpSpPr>
        <p:sp>
          <p:nvSpPr>
            <p:cNvPr id="17" name="TextBox 17"/>
            <p:cNvSpPr txBox="1"/>
            <p:nvPr/>
          </p:nvSpPr>
          <p:spPr>
            <a:xfrm>
              <a:off x="4458462" y="1897380"/>
              <a:ext cx="3061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76750" y="2381250"/>
              <a:ext cx="32385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67225" y="246459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用户管理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76750" y="2828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2673" y="2738914"/>
              <a:ext cx="22887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登录后区分管理员和普通用户，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各自看到各自的数据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76750" y="32670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22673" y="3177064"/>
              <a:ext cx="224002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同一邮箱连续 5 次登录失败，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锁定 15 分钟，挡住批量试密码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76750" y="37052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22673" y="3615214"/>
              <a:ext cx="19636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按用户隔离数据，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历史任务与版本可回溯复用</a:t>
              </a:r>
            </a:p>
          </p:txBody>
        </p:sp>
      </p:grpSp>
      <p:grpSp>
        <p:nvGrpSpPr>
          <p:cNvPr id="36" name="p08-m3"/>
          <p:cNvGrpSpPr/>
          <p:nvPr/>
        </p:nvGrpSpPr>
        <p:grpSpPr>
          <a:xfrm>
            <a:off x="8173212" y="1897380"/>
            <a:ext cx="3256788" cy="2186274"/>
            <a:chOff x="8173212" y="1897380"/>
            <a:chExt cx="3256788" cy="2186274"/>
          </a:xfrm>
        </p:grpSpPr>
        <p:sp>
          <p:nvSpPr>
            <p:cNvPr id="27" name="TextBox 27"/>
            <p:cNvSpPr txBox="1"/>
            <p:nvPr/>
          </p:nvSpPr>
          <p:spPr>
            <a:xfrm>
              <a:off x="8173212" y="1897380"/>
              <a:ext cx="3061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91500" y="2381250"/>
              <a:ext cx="3238500" cy="9525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81975" y="2464594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分享与仪表盘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91500" y="2828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37423" y="2738914"/>
              <a:ext cx="25001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报告 / 评测 / 工作流结果都能生成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免登录分享链接（带有效期）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91500" y="32670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37423" y="3177064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公开页面只读访问，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支持分享管理与即时撤销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91500" y="37052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37423" y="3615214"/>
              <a:ext cx="2776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资产总览：任务、知识库、接口统计，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活动趋势与模型使用分布</a:t>
              </a:r>
            </a:p>
          </p:txBody>
        </p:sp>
      </p:grpSp>
      <p:grpSp>
        <p:nvGrpSpPr>
          <p:cNvPr id="41" name="p08-shot1"/>
          <p:cNvGrpSpPr/>
          <p:nvPr/>
        </p:nvGrpSpPr>
        <p:grpSpPr>
          <a:xfrm>
            <a:off x="762000" y="4115991"/>
            <a:ext cx="3238500" cy="2170509"/>
            <a:chOff x="762000" y="4115991"/>
            <a:chExt cx="3238500" cy="2170509"/>
          </a:xfrm>
        </p:grpSpPr>
        <p:sp>
          <p:nvSpPr>
            <p:cNvPr id="37" name="Rectangle 37"/>
            <p:cNvSpPr/>
            <p:nvPr/>
          </p:nvSpPr>
          <p:spPr>
            <a:xfrm>
              <a:off x="762000" y="4133850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6782" y="4115991"/>
              <a:ext cx="162695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迭代过程 · 得分曲线</a:t>
              </a:r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0" t="2941" r="0" b="2941"/>
            <a:stretch>
              <a:fillRect/>
            </a:stretch>
          </p:blipFill>
          <p:spPr>
            <a:xfrm>
              <a:off x="762000" y="4381500"/>
              <a:ext cx="3238500" cy="19050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762000" y="4381500"/>
              <a:ext cx="3238500" cy="1905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</p:grpSp>
      <p:grpSp>
        <p:nvGrpSpPr>
          <p:cNvPr id="46" name="p08-shot2"/>
          <p:cNvGrpSpPr/>
          <p:nvPr/>
        </p:nvGrpSpPr>
        <p:grpSpPr>
          <a:xfrm>
            <a:off x="4476750" y="4115991"/>
            <a:ext cx="3238500" cy="2170509"/>
            <a:chOff x="4476750" y="4115991"/>
            <a:chExt cx="3238500" cy="2170509"/>
          </a:xfrm>
        </p:grpSpPr>
        <p:sp>
          <p:nvSpPr>
            <p:cNvPr id="42" name="Rectangle 42"/>
            <p:cNvSpPr/>
            <p:nvPr/>
          </p:nvSpPr>
          <p:spPr>
            <a:xfrm>
              <a:off x="4476750" y="4133850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41532" y="4115991"/>
              <a:ext cx="162695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用户管理 · 角色权限</a:t>
              </a:r>
            </a:p>
          </p:txBody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rcRect l="0" t="2941" r="0" b="2941"/>
            <a:stretch>
              <a:fillRect/>
            </a:stretch>
          </p:blipFill>
          <p:spPr>
            <a:xfrm>
              <a:off x="4476750" y="4381500"/>
              <a:ext cx="3238500" cy="1905000"/>
            </a:xfrm>
            <a:prstGeom prst="rect">
              <a:avLst/>
            </a:prstGeom>
          </p:spPr>
        </p:pic>
        <p:sp>
          <p:nvSpPr>
            <p:cNvPr id="45" name="Rectangle 45"/>
            <p:cNvSpPr/>
            <p:nvPr/>
          </p:nvSpPr>
          <p:spPr>
            <a:xfrm>
              <a:off x="4476750" y="4381500"/>
              <a:ext cx="3238500" cy="1905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</p:grpSp>
      <p:grpSp>
        <p:nvGrpSpPr>
          <p:cNvPr id="51" name="p08-shot3"/>
          <p:cNvGrpSpPr/>
          <p:nvPr/>
        </p:nvGrpSpPr>
        <p:grpSpPr>
          <a:xfrm>
            <a:off x="8191500" y="4115991"/>
            <a:ext cx="3238500" cy="2170509"/>
            <a:chOff x="8191500" y="4115991"/>
            <a:chExt cx="3238500" cy="2170509"/>
          </a:xfrm>
        </p:grpSpPr>
        <p:sp>
          <p:nvSpPr>
            <p:cNvPr id="47" name="Rectangle 47"/>
            <p:cNvSpPr/>
            <p:nvPr/>
          </p:nvSpPr>
          <p:spPr>
            <a:xfrm>
              <a:off x="8191500" y="4133850"/>
              <a:ext cx="95250" cy="95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56282" y="4115991"/>
              <a:ext cx="162695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任务概览 · 资产统计</a:t>
              </a:r>
            </a:p>
          </p:txBody>
        </p:sp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4"/>
            <a:srcRect l="0" t="2941" r="0" b="2941"/>
            <a:stretch>
              <a:fillRect/>
            </a:stretch>
          </p:blipFill>
          <p:spPr>
            <a:xfrm>
              <a:off x="8191500" y="4381500"/>
              <a:ext cx="3238500" cy="1905000"/>
            </a:xfrm>
            <a:prstGeom prst="rect">
              <a:avLst/>
            </a:prstGeom>
          </p:spPr>
        </p:pic>
        <p:sp>
          <p:nvSpPr>
            <p:cNvPr id="50" name="Rectangle 50"/>
            <p:cNvSpPr/>
            <p:nvPr/>
          </p:nvSpPr>
          <p:spPr>
            <a:xfrm>
              <a:off x="8191500" y="4381500"/>
              <a:ext cx="3238500" cy="1905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</p:grpSp>
      <p:grpSp>
        <p:nvGrpSpPr>
          <p:cNvPr id="54" name="p08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52" name="TextBox 52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08 / 12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09-header"/>
          <p:cNvGrpSpPr/>
          <p:nvPr/>
        </p:nvGrpSpPr>
        <p:grpSpPr>
          <a:xfrm>
            <a:off x="744855" y="613410"/>
            <a:ext cx="8450362" cy="863441"/>
            <a:chOff x="744855" y="613410"/>
            <a:chExt cx="8450362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3401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RAG &amp; PROMPT-AS-A-SERVICE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8450362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扩展功能（一）：知识库 RAG 与在线服务</a:t>
              </a:r>
            </a:p>
          </p:txBody>
        </p:sp>
      </p:grpSp>
      <p:grpSp>
        <p:nvGrpSpPr>
          <p:cNvPr id="17" name="p09-rag"/>
          <p:cNvGrpSpPr/>
          <p:nvPr/>
        </p:nvGrpSpPr>
        <p:grpSpPr>
          <a:xfrm>
            <a:off x="762000" y="1861661"/>
            <a:ext cx="5155971" cy="1907667"/>
            <a:chOff x="762000" y="1861661"/>
            <a:chExt cx="5155971" cy="1907667"/>
          </a:xfrm>
        </p:grpSpPr>
        <p:sp>
          <p:nvSpPr>
            <p:cNvPr id="7" name="Rectangle 7"/>
            <p:cNvSpPr/>
            <p:nvPr/>
          </p:nvSpPr>
          <p:spPr>
            <a:xfrm>
              <a:off x="762000" y="1943100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0887" y="1861661"/>
              <a:ext cx="15991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知识库（RAG）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4098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7923" y="2319814"/>
              <a:ext cx="3752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上传或批量导入资料，可一键导入 19 类示例语料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8098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7923" y="271986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两种检索方式：优先语义向量，不可用时自动降级为关键词指纹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209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923" y="311991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任务里可以开关知识库，评测时自动把检索到的原文片段交给模型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6099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7923" y="3519964"/>
              <a:ext cx="39847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评测回答有没有原文支撑，给出「忠实度」0-100 分</a:t>
              </a:r>
            </a:p>
          </p:txBody>
        </p:sp>
      </p:grpSp>
      <p:grpSp>
        <p:nvGrpSpPr>
          <p:cNvPr id="32" name="p09-flow"/>
          <p:cNvGrpSpPr/>
          <p:nvPr/>
        </p:nvGrpSpPr>
        <p:grpSpPr>
          <a:xfrm>
            <a:off x="6286500" y="2000250"/>
            <a:ext cx="3238500" cy="2461451"/>
            <a:chOff x="6286500" y="2000250"/>
            <a:chExt cx="3238500" cy="2461451"/>
          </a:xfrm>
        </p:grpSpPr>
        <p:sp>
          <p:nvSpPr>
            <p:cNvPr id="18" name="Rectangle 18"/>
            <p:cNvSpPr/>
            <p:nvPr/>
          </p:nvSpPr>
          <p:spPr>
            <a:xfrm>
              <a:off x="6286500" y="2000250"/>
              <a:ext cx="3238500" cy="3048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89192" y="2064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语料上传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7791450" y="2352675"/>
              <a:ext cx="228600" cy="13335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2533650"/>
              <a:ext cx="3238500" cy="3048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89192" y="2597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文本分块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791450" y="2886075"/>
              <a:ext cx="228600" cy="13335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3067050"/>
              <a:ext cx="3238500" cy="3048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89192" y="313086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向量 / 词法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791450" y="3419475"/>
              <a:ext cx="228600" cy="13335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3600450"/>
              <a:ext cx="3238500" cy="3048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89192" y="366426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检索 top-k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791450" y="3952875"/>
              <a:ext cx="228600" cy="13335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86500" y="4133850"/>
              <a:ext cx="3238500" cy="3048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89192" y="41976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忠实度评测</a:t>
              </a:r>
            </a:p>
          </p:txBody>
        </p:sp>
      </p:grpSp>
      <p:grpSp>
        <p:nvGrpSpPr>
          <p:cNvPr id="43" name="p09-api"/>
          <p:cNvGrpSpPr/>
          <p:nvPr/>
        </p:nvGrpSpPr>
        <p:grpSpPr>
          <a:xfrm>
            <a:off x="762000" y="4528661"/>
            <a:ext cx="5199050" cy="1679067"/>
            <a:chOff x="762000" y="4528661"/>
            <a:chExt cx="5199050" cy="1679067"/>
          </a:xfrm>
        </p:grpSpPr>
        <p:sp>
          <p:nvSpPr>
            <p:cNvPr id="33" name="Rectangle 33"/>
            <p:cNvSpPr/>
            <p:nvPr/>
          </p:nvSpPr>
          <p:spPr>
            <a:xfrm>
              <a:off x="762000" y="4610100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0887" y="4528661"/>
              <a:ext cx="32655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在线服务（Prompt 一键上线）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5048250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7923" y="4958239"/>
              <a:ext cx="50531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把最优或已冻结的提示词一键发布成在线接口，自动生成 sk- 密钥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53816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7923" y="529161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调用方带密钥即可调用，不用登录；密钥可随时轮换作废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5715000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7923" y="5624989"/>
              <a:ext cx="4872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每个接口限流 60 次/分钟，超限返回 429，防止密钥泄露被人刷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" y="60483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7923" y="595836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自动记录调用日志与次数统计；页面上可以直接试调用</a:t>
              </a:r>
            </a:p>
          </p:txBody>
        </p:sp>
      </p:grpSp>
      <p:grpSp>
        <p:nvGrpSpPr>
          <p:cNvPr id="47" name="p09-code"/>
          <p:cNvGrpSpPr/>
          <p:nvPr/>
        </p:nvGrpSpPr>
        <p:grpSpPr>
          <a:xfrm>
            <a:off x="6286500" y="4762500"/>
            <a:ext cx="5143500" cy="857250"/>
            <a:chOff x="6286500" y="4762500"/>
            <a:chExt cx="5143500" cy="857250"/>
          </a:xfrm>
        </p:grpSpPr>
        <p:sp>
          <p:nvSpPr>
            <p:cNvPr id="44" name="Rectangle 44"/>
            <p:cNvSpPr/>
            <p:nvPr/>
          </p:nvSpPr>
          <p:spPr>
            <a:xfrm>
              <a:off x="6286500" y="4762500"/>
              <a:ext cx="5143500" cy="857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86500" y="4762500"/>
              <a:ext cx="47625" cy="8572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6154" y="4994910"/>
              <a:ext cx="22753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POST /endpoints/{id}/invoke</a:t>
              </a:r>
              <a:br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X-Api-Key: sk-**** → 200 OK</a:t>
              </a:r>
            </a:p>
          </p:txBody>
        </p:sp>
      </p:grpSp>
      <p:grpSp>
        <p:nvGrpSpPr>
          <p:cNvPr id="50" name="p09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48" name="TextBox 48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09 / 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4" name="Line 4"/>
          <p:cNvSpPr/>
          <p:nvPr/>
        </p:nvSpPr>
        <p:spPr>
          <a:xfrm>
            <a:off x="5905500" y="241935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19050">
            <a:solidFill>
              <a:srgbClr val="0A0A0A"/>
            </a:solidFill>
          </a:ln>
        </p:spPr>
      </p:sp>
      <p:sp>
        <p:nvSpPr>
          <p:cNvPr id="5" name="Line 5"/>
          <p:cNvSpPr/>
          <p:nvPr/>
        </p:nvSpPr>
        <p:spPr>
          <a:xfrm>
            <a:off x="5905500" y="285750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6" name="Line 6"/>
          <p:cNvSpPr/>
          <p:nvPr/>
        </p:nvSpPr>
        <p:spPr>
          <a:xfrm>
            <a:off x="5905500" y="3286125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sp>
        <p:nvSpPr>
          <p:cNvPr id="7" name="Line 7"/>
          <p:cNvSpPr/>
          <p:nvPr/>
        </p:nvSpPr>
        <p:spPr>
          <a:xfrm>
            <a:off x="5905500" y="371475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10" name="p10-header"/>
          <p:cNvGrpSpPr/>
          <p:nvPr/>
        </p:nvGrpSpPr>
        <p:grpSpPr>
          <a:xfrm>
            <a:off x="744855" y="613410"/>
            <a:ext cx="8679586" cy="863441"/>
            <a:chOff x="744855" y="613410"/>
            <a:chExt cx="8679586" cy="863441"/>
          </a:xfrm>
        </p:grpSpPr>
        <p:sp>
          <p:nvSpPr>
            <p:cNvPr id="8" name="TextBox 8"/>
            <p:cNvSpPr txBox="1"/>
            <p:nvPr/>
          </p:nvSpPr>
          <p:spPr>
            <a:xfrm>
              <a:off x="755904" y="613410"/>
              <a:ext cx="2984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BENCHMARK &amp; WORKFLOW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855" y="816769"/>
              <a:ext cx="8679586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扩展功能（二）：多模型评测与多步工作流</a:t>
              </a:r>
            </a:p>
          </p:txBody>
        </p:sp>
      </p:grpSp>
      <p:grpSp>
        <p:nvGrpSpPr>
          <p:cNvPr id="19" name="p10-eval"/>
          <p:cNvGrpSpPr/>
          <p:nvPr/>
        </p:nvGrpSpPr>
        <p:grpSpPr>
          <a:xfrm>
            <a:off x="762000" y="1861661"/>
            <a:ext cx="4983658" cy="1545717"/>
            <a:chOff x="762000" y="1861661"/>
            <a:chExt cx="4983658" cy="1545717"/>
          </a:xfrm>
        </p:grpSpPr>
        <p:sp>
          <p:nvSpPr>
            <p:cNvPr id="11" name="Rectangle 11"/>
            <p:cNvSpPr/>
            <p:nvPr/>
          </p:nvSpPr>
          <p:spPr>
            <a:xfrm>
              <a:off x="762000" y="1943100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0887" y="1861661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模型评测平台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4098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923" y="231981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同一批用例、同一份提示词，放到多个模型上分别跑一遍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828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7923" y="2738914"/>
              <a:ext cx="4567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沿用同一套打分口径（机器指标 + AI 评审），再横向归一化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2480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923" y="315801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输出平均分、推荐最优模型，列出各模型失败用例，可导出报告</a:t>
              </a:r>
            </a:p>
          </p:txBody>
        </p:sp>
      </p:grpSp>
      <p:grpSp>
        <p:nvGrpSpPr>
          <p:cNvPr id="36" name="p10-matrix"/>
          <p:cNvGrpSpPr/>
          <p:nvPr/>
        </p:nvGrpSpPr>
        <p:grpSpPr>
          <a:xfrm>
            <a:off x="5898642" y="2156460"/>
            <a:ext cx="4905458" cy="1533715"/>
            <a:chOff x="5898642" y="2156460"/>
            <a:chExt cx="4905458" cy="1533715"/>
          </a:xfrm>
        </p:grpSpPr>
        <p:sp>
          <p:nvSpPr>
            <p:cNvPr id="20" name="TextBox 20"/>
            <p:cNvSpPr txBox="1"/>
            <p:nvPr/>
          </p:nvSpPr>
          <p:spPr>
            <a:xfrm>
              <a:off x="5899404" y="2156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9089" y="215646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用例1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77339" y="215646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用例2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52735" y="2156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98642" y="2568892"/>
              <a:ext cx="1166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DeepSeek-V4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20192" y="2568892"/>
              <a:ext cx="266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8.6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58442" y="2568892"/>
              <a:ext cx="266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9.0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36651" y="2568892"/>
              <a:ext cx="367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8.65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8642" y="2997518"/>
              <a:ext cx="915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Qwen-Plus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20192" y="2997518"/>
              <a:ext cx="266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7.8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58442" y="2997518"/>
              <a:ext cx="266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8.2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36651" y="2997518"/>
              <a:ext cx="367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7.88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98642" y="3426142"/>
              <a:ext cx="88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GLM-4-Air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20192" y="3426142"/>
              <a:ext cx="266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7.2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58442" y="3426142"/>
              <a:ext cx="266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7.6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36651" y="3426142"/>
              <a:ext cx="367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7.30</a:t>
              </a:r>
            </a:p>
          </p:txBody>
        </p:sp>
      </p:grpSp>
      <p:grpSp>
        <p:nvGrpSpPr>
          <p:cNvPr id="50" name="p10-flow"/>
          <p:cNvGrpSpPr/>
          <p:nvPr/>
        </p:nvGrpSpPr>
        <p:grpSpPr>
          <a:xfrm>
            <a:off x="762000" y="4242911"/>
            <a:ext cx="4429125" cy="1367695"/>
            <a:chOff x="762000" y="4242911"/>
            <a:chExt cx="4429125" cy="1367695"/>
          </a:xfrm>
        </p:grpSpPr>
        <p:sp>
          <p:nvSpPr>
            <p:cNvPr id="37" name="Rectangle 37"/>
            <p:cNvSpPr/>
            <p:nvPr/>
          </p:nvSpPr>
          <p:spPr>
            <a:xfrm>
              <a:off x="762000" y="4324350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0887" y="4242911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多步骤工作流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4876800"/>
              <a:ext cx="1285875" cy="381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16762" y="4978718"/>
              <a:ext cx="566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Step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4258" y="537591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B3EE3"/>
                  </a:solidFill>
                  <a:latin typeface="Consolas"/>
                  <a:ea typeface="Consolas"/>
                  <a:cs typeface="Consolas"/>
                </a:rPr>
                <a:t>{{input}}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2095500" y="5010150"/>
              <a:ext cx="209550" cy="11430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333625" y="4876800"/>
              <a:ext cx="1285875" cy="381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688387" y="4978718"/>
              <a:ext cx="566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Step 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88184" y="53759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B3EE3"/>
                  </a:solidFill>
                  <a:latin typeface="Consolas"/>
                  <a:ea typeface="Consolas"/>
                  <a:cs typeface="Consolas"/>
                </a:rPr>
                <a:t>{{step1.out}}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3667125" y="5010150"/>
              <a:ext cx="209550" cy="114300"/>
            </a:xfrm>
            <a:prstGeom prst="rightArrow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905250" y="4876800"/>
              <a:ext cx="1285875" cy="381000"/>
            </a:xfrm>
            <a:prstGeom prst="rect">
              <a:avLst/>
            </a:prstGeom>
            <a:noFill/>
            <a:ln w="9525">
              <a:solidFill>
                <a:srgbClr val="0A0A0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60012" y="4978718"/>
              <a:ext cx="566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Step 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59809" y="53759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B3EE3"/>
                  </a:solidFill>
                  <a:latin typeface="Consolas"/>
                  <a:ea typeface="Consolas"/>
                  <a:cs typeface="Consolas"/>
                </a:rPr>
                <a:t>{{step2.out}}</a:t>
              </a:r>
            </a:p>
          </p:txBody>
        </p:sp>
      </p:grpSp>
      <p:grpSp>
        <p:nvGrpSpPr>
          <p:cNvPr id="59" name="p10-steps"/>
          <p:cNvGrpSpPr/>
          <p:nvPr/>
        </p:nvGrpSpPr>
        <p:grpSpPr>
          <a:xfrm>
            <a:off x="5905500" y="4624864"/>
            <a:ext cx="5614191" cy="1449514"/>
            <a:chOff x="5905500" y="4624864"/>
            <a:chExt cx="5614191" cy="1449514"/>
          </a:xfrm>
        </p:grpSpPr>
        <p:sp>
          <p:nvSpPr>
            <p:cNvPr id="51" name="Rectangle 51"/>
            <p:cNvSpPr/>
            <p:nvPr/>
          </p:nvSpPr>
          <p:spPr>
            <a:xfrm>
              <a:off x="5905500" y="47148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51423" y="4624864"/>
              <a:ext cx="5468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把任务拆成多步，每步一套指令，用 {{input}} / {{stepN.out}} 传参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905500" y="5114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51423" y="502491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上一步的输出自动成为下一步的输入，最后一步的输出就是结果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905500" y="551497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51423" y="542496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整条链一起打分，并与「单条提示词」的做法对比，输出运行历史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905500" y="59150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51423" y="5825014"/>
              <a:ext cx="4691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再逐步做多轮优化（1/2/3/5 轮），以整链得分为准择优回写</a:t>
              </a:r>
            </a:p>
          </p:txBody>
        </p:sp>
      </p:grpSp>
      <p:grpSp>
        <p:nvGrpSpPr>
          <p:cNvPr id="62" name="p10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60" name="TextBox 60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10 / 12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11-header"/>
          <p:cNvGrpSpPr/>
          <p:nvPr/>
        </p:nvGrpSpPr>
        <p:grpSpPr>
          <a:xfrm>
            <a:off x="744855" y="613410"/>
            <a:ext cx="8938945" cy="863441"/>
            <a:chOff x="744855" y="613410"/>
            <a:chExt cx="8938945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4200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REAL CASE · 1000-ROUND ITERATION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8938945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真实案例：一个提示词，从 36 分改到 90 分</a:t>
              </a:r>
            </a:p>
          </p:txBody>
        </p:sp>
      </p:grpSp>
      <p:grpSp>
        <p:nvGrpSpPr>
          <p:cNvPr id="17" name="p11-case"/>
          <p:cNvGrpSpPr/>
          <p:nvPr/>
        </p:nvGrpSpPr>
        <p:grpSpPr>
          <a:xfrm>
            <a:off x="762000" y="1861661"/>
            <a:ext cx="4192702" cy="2231517"/>
            <a:chOff x="762000" y="1861661"/>
            <a:chExt cx="4192702" cy="2231517"/>
          </a:xfrm>
        </p:grpSpPr>
        <p:sp>
          <p:nvSpPr>
            <p:cNvPr id="7" name="Rectangle 7"/>
            <p:cNvSpPr/>
            <p:nvPr/>
          </p:nvSpPr>
          <p:spPr>
            <a:xfrm>
              <a:off x="762000" y="1943100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0887" y="1861661"/>
              <a:ext cx="39538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案例：把杂乱记录提炼成「事件主线」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4479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7923" y="2357914"/>
              <a:ext cx="3613658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起点：AI 总把一切塞进一个泛化大标题（如「整体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运营」），看着完整，其实什么都没讲清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9432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7923" y="2853214"/>
              <a:ext cx="3719322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做法：小步迭代 1000 多轮，每轮只解决一个问题，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固定样本、固定评分，反复测同一份考卷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385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923" y="3348514"/>
              <a:ext cx="3638042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顺序：先稳格式 → 再分颗粒度 → 再清边界（日期、</a:t>
              </a:r>
              <a:br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版本号、临时状态、泛化标题）→ 最后攻归属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933825"/>
              <a:ext cx="95250" cy="190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7923" y="384381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判据：不看输出是否华丽，只看模型是否听懂了要求</a:t>
              </a:r>
            </a:p>
          </p:txBody>
        </p:sp>
      </p:grpSp>
      <p:grpSp>
        <p:nvGrpSpPr>
          <p:cNvPr id="26" name="p11-res"/>
          <p:cNvGrpSpPr/>
          <p:nvPr/>
        </p:nvGrpSpPr>
        <p:grpSpPr>
          <a:xfrm>
            <a:off x="6082665" y="1861661"/>
            <a:ext cx="3048305" cy="2635568"/>
            <a:chOff x="6082665" y="1861661"/>
            <a:chExt cx="3048305" cy="2635568"/>
          </a:xfrm>
        </p:grpSpPr>
        <p:sp>
          <p:nvSpPr>
            <p:cNvPr id="18" name="Rectangle 18"/>
            <p:cNvSpPr/>
            <p:nvPr/>
          </p:nvSpPr>
          <p:spPr>
            <a:xfrm>
              <a:off x="6096000" y="1943100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887" y="1861661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迭代结果：分数阶梯式上升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9523" y="2415064"/>
              <a:ext cx="184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DeepSeek · 提示词总分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2665" y="2612231"/>
              <a:ext cx="1948345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36.4 → 90.7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9523" y="3100864"/>
              <a:ext cx="1648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Doubao · 提示词总分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82665" y="3298031"/>
              <a:ext cx="1948345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54.0 → 96.8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9523" y="37866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二级归属指标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82665" y="3983831"/>
              <a:ext cx="1948345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52.7 → 97.8</a:t>
              </a:r>
            </a:p>
          </p:txBody>
        </p:sp>
      </p:grpSp>
      <p:grpSp>
        <p:nvGrpSpPr>
          <p:cNvPr id="32" name="p11-band"/>
          <p:cNvGrpSpPr/>
          <p:nvPr/>
        </p:nvGrpSpPr>
        <p:grpSpPr>
          <a:xfrm>
            <a:off x="762000" y="4762500"/>
            <a:ext cx="10668000" cy="1219200"/>
            <a:chOff x="762000" y="4762500"/>
            <a:chExt cx="10668000" cy="1219200"/>
          </a:xfrm>
        </p:grpSpPr>
        <p:sp>
          <p:nvSpPr>
            <p:cNvPr id="27" name="Rectangle 27"/>
            <p:cNvSpPr/>
            <p:nvPr/>
          </p:nvSpPr>
          <p:spPr>
            <a:xfrm>
              <a:off x="762000" y="4762500"/>
              <a:ext cx="10668000" cy="1219200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762500"/>
              <a:ext cx="47625" cy="12192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8990" y="4996577"/>
              <a:ext cx="7064324" cy="3007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4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这个案例正是本项目的起点：我们把「手工迭代」做成了系统自动化的闭环。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0323" y="5367814"/>
              <a:ext cx="9076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落到系统里就是：固定用例集反复测 · 每轮只改一小步 · 保留有效、淘汰无效 · 连续几轮不涨就停 · 支持多模型适配。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0323" y="5672614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结论：可测试、可复现、可比较，才是判断一套提示词优化方法是否成立的标准。</a:t>
              </a:r>
            </a:p>
          </p:txBody>
        </p:sp>
      </p:grpSp>
      <p:grpSp>
        <p:nvGrpSpPr>
          <p:cNvPr id="35" name="p11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11 / 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-accent"/>
          <p:cNvSpPr/>
          <p:nvPr/>
        </p:nvSpPr>
        <p:spPr>
          <a:xfrm>
            <a:off x="762000" y="1447800"/>
            <a:ext cx="609600" cy="47625"/>
          </a:xfrm>
          <a:prstGeom prst="rect">
            <a:avLst/>
          </a:prstGeom>
          <a:solidFill>
            <a:srgbClr val="0B3EE3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6764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CDCDC"/>
            </a:solidFill>
          </a:ln>
        </p:spPr>
      </p:sp>
      <p:grpSp>
        <p:nvGrpSpPr>
          <p:cNvPr id="6" name="p12-header"/>
          <p:cNvGrpSpPr/>
          <p:nvPr/>
        </p:nvGrpSpPr>
        <p:grpSpPr>
          <a:xfrm>
            <a:off x="744855" y="613410"/>
            <a:ext cx="5949493" cy="863441"/>
            <a:chOff x="744855" y="613410"/>
            <a:chExt cx="5949493" cy="863441"/>
          </a:xfrm>
        </p:grpSpPr>
        <p:sp>
          <p:nvSpPr>
            <p:cNvPr id="4" name="TextBox 4"/>
            <p:cNvSpPr txBox="1"/>
            <p:nvPr/>
          </p:nvSpPr>
          <p:spPr>
            <a:xfrm>
              <a:off x="755904" y="613410"/>
              <a:ext cx="5167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40" dirty="0">
                  <a:solidFill>
                    <a:srgbClr val="6B6B6B"/>
                  </a:solidFill>
                  <a:latin typeface="+mj-lt"/>
                  <a:ea typeface="+mj-ea"/>
                  <a:cs typeface="+mj-cs"/>
                </a:rPr>
                <a:t>PROJECT SUMMARY · RESULTS &amp; TAKEAWAYS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816769"/>
              <a:ext cx="5949493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项目总结：成果、收获与难点</a:t>
              </a:r>
            </a:p>
          </p:txBody>
        </p:sp>
      </p:grpSp>
      <p:grpSp>
        <p:nvGrpSpPr>
          <p:cNvPr id="21" name="p12-kpi"/>
          <p:cNvGrpSpPr/>
          <p:nvPr/>
        </p:nvGrpSpPr>
        <p:grpSpPr>
          <a:xfrm>
            <a:off x="750189" y="1728311"/>
            <a:ext cx="9763582" cy="1196245"/>
            <a:chOff x="750189" y="1728311"/>
            <a:chExt cx="9763582" cy="1196245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0887" y="1728311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看得见的成果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189" y="2244566"/>
              <a:ext cx="120431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25 → 45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590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904" y="26898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冒烟测试：综合得分提升 80%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17189" y="2244566"/>
              <a:ext cx="90067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91 + 7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2590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22904" y="26898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自动化测试全绿，覆盖率 84%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4189" y="2244566"/>
              <a:ext cx="77012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11 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2590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89904" y="26898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越权、爆破、密钥泄露逐一堵住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1189" y="2244566"/>
              <a:ext cx="97875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75 / 22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63000" y="2590800"/>
              <a:ext cx="1143000" cy="95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56904" y="2689860"/>
              <a:ext cx="1756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75 个接口、22 张数据表</a:t>
              </a:r>
            </a:p>
          </p:txBody>
        </p:sp>
      </p:grpSp>
      <p:grpSp>
        <p:nvGrpSpPr>
          <p:cNvPr id="33" name="p12-keep"/>
          <p:cNvGrpSpPr/>
          <p:nvPr/>
        </p:nvGrpSpPr>
        <p:grpSpPr>
          <a:xfrm>
            <a:off x="751713" y="3052286"/>
            <a:ext cx="3728872" cy="2088642"/>
            <a:chOff x="751713" y="3052286"/>
            <a:chExt cx="3728872" cy="2088642"/>
          </a:xfrm>
        </p:grpSpPr>
        <p:sp>
          <p:nvSpPr>
            <p:cNvPr id="22" name="Rectangle 22"/>
            <p:cNvSpPr/>
            <p:nvPr/>
          </p:nvSpPr>
          <p:spPr>
            <a:xfrm>
              <a:off x="762000" y="3133725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0887" y="30522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三点收获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713" y="3362801"/>
              <a:ext cx="32307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1006" y="3387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提示词不是玄学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3673" y="37104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分数从哪来、为什么涨，都要能说清楚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713" y="3953351"/>
              <a:ext cx="32307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1006" y="39776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小步快跑胜过一步到位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93673" y="43010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一轮只解决一个问题，留有效、淘汰无效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713" y="4543901"/>
              <a:ext cx="32307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B3EE3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91006" y="4568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工程化才是分水岭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3673" y="48915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评分口径统一、版本可回退、数据相互隔离</a:t>
              </a:r>
            </a:p>
          </p:txBody>
        </p:sp>
      </p:grpSp>
      <p:grpSp>
        <p:nvGrpSpPr>
          <p:cNvPr id="45" name="p12-hard"/>
          <p:cNvGrpSpPr/>
          <p:nvPr/>
        </p:nvGrpSpPr>
        <p:grpSpPr>
          <a:xfrm>
            <a:off x="6172200" y="3052286"/>
            <a:ext cx="4622277" cy="2088642"/>
            <a:chOff x="6172200" y="3052286"/>
            <a:chExt cx="4622277" cy="2088642"/>
          </a:xfrm>
        </p:grpSpPr>
        <p:sp>
          <p:nvSpPr>
            <p:cNvPr id="34" name="Rectangle 34"/>
            <p:cNvSpPr/>
            <p:nvPr/>
          </p:nvSpPr>
          <p:spPr>
            <a:xfrm>
              <a:off x="6172200" y="3133725"/>
              <a:ext cx="114300" cy="1143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1087" y="305228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遇到的难点与解决方法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72200" y="3419475"/>
              <a:ext cx="38100" cy="2095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0706" y="33870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自动评分和人的判断对不上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3373" y="371046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解法：用人工评分校准权重，再与自动打分合成总分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172200" y="4010025"/>
              <a:ext cx="38100" cy="2095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0706" y="39776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越改越飘，换一批题就崩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13373" y="4301014"/>
              <a:ext cx="4381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解法：按 8:1:1 切开开发、验证、测试集，最后只验一次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172200" y="4600575"/>
              <a:ext cx="38100" cy="20955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0706" y="45681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不知道什么时候该停下来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3373" y="4891564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解法：到目标分、连续 3 轮没涨、到最大轮次就停</a:t>
              </a:r>
            </a:p>
          </p:txBody>
        </p:sp>
      </p:grpSp>
      <p:grpSp>
        <p:nvGrpSpPr>
          <p:cNvPr id="50" name="p12-band"/>
          <p:cNvGrpSpPr/>
          <p:nvPr/>
        </p:nvGrpSpPr>
        <p:grpSpPr>
          <a:xfrm>
            <a:off x="762000" y="5295900"/>
            <a:ext cx="10668000" cy="914400"/>
            <a:chOff x="762000" y="5295900"/>
            <a:chExt cx="10668000" cy="914400"/>
          </a:xfrm>
        </p:grpSpPr>
        <p:sp>
          <p:nvSpPr>
            <p:cNvPr id="46" name="Rectangle 46"/>
            <p:cNvSpPr/>
            <p:nvPr/>
          </p:nvSpPr>
          <p:spPr>
            <a:xfrm>
              <a:off x="762000" y="5295900"/>
              <a:ext cx="10668000" cy="914400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2000" y="5295900"/>
              <a:ext cx="47625" cy="914400"/>
            </a:xfrm>
            <a:prstGeom prst="rect">
              <a:avLst/>
            </a:prstGeom>
            <a:solidFill>
              <a:srgbClr val="0B3EE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49655" y="5331619"/>
              <a:ext cx="4223846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谢谢观看 · 敬请指导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0323" y="5901214"/>
              <a:ext cx="9860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从「改好一份提示词」，到「一套可复用的方法 + 一个能用的平台」；系统可以自己迭代，但目标始终由人设定、结果由人抽检。</a:t>
              </a:r>
            </a:p>
          </p:txBody>
        </p:sp>
      </p:grpSp>
      <p:grpSp>
        <p:nvGrpSpPr>
          <p:cNvPr id="53" name="p12-footer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756285" y="6488906"/>
              <a:ext cx="472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E9E9E"/>
                  </a:solidFill>
                  <a:latin typeface="+mj-lt"/>
                  <a:ea typeface="+mj-ea"/>
                  <a:cs typeface="+mj-cs"/>
                </a:rPr>
                <a:t>12 / 12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95716" y="64889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E9E9E"/>
                  </a:solidFill>
                  <a:latin typeface="+mn-lt"/>
                  <a:ea typeface="+mn-ea"/>
                  <a:cs typeface="+mn-cs"/>
                </a:rPr>
                <a:t>提示词自动迭代优化智能体 · 项目汇报 v2.0.0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mpt-evolver-swiss">
  <a:themeElements>
    <a:clrScheme name="prompt-evolver-swis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mpt-evolver-swis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mpt-evolver-swi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2026-09-29T08:00:10Z</dcterms:created>
  <dcterms:modified xsi:type="dcterms:W3CDTF">2026-09-29T08:00:10Z</dcterms:modified>
  <cp:category/>
  <cp:contentStatus/>
</cp:coreProperties>
</file>